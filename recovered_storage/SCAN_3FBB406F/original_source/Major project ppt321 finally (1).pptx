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83" r:id="rId2"/>
    <p:sldId id="287" r:id="rId3"/>
    <p:sldId id="269" r:id="rId4"/>
    <p:sldId id="270" r:id="rId5"/>
    <p:sldId id="297" r:id="rId6"/>
    <p:sldId id="295" r:id="rId7"/>
    <p:sldId id="273" r:id="rId8"/>
    <p:sldId id="274" r:id="rId9"/>
    <p:sldId id="275" r:id="rId10"/>
    <p:sldId id="276" r:id="rId11"/>
    <p:sldId id="277" r:id="rId12"/>
    <p:sldId id="293" r:id="rId13"/>
    <p:sldId id="289" r:id="rId14"/>
    <p:sldId id="285" r:id="rId15"/>
    <p:sldId id="286" r:id="rId16"/>
    <p:sldId id="29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88592" autoAdjust="0"/>
  </p:normalViewPr>
  <p:slideViewPr>
    <p:cSldViewPr snapToGrid="0" snapToObjects="1">
      <p:cViewPr varScale="1">
        <p:scale>
          <a:sx n="66" d="100"/>
          <a:sy n="66" d="100"/>
        </p:scale>
        <p:origin x="1518" y="72"/>
      </p:cViewPr>
      <p:guideLst>
        <p:guide orient="horz" pos="2160"/>
        <p:guide pos="2880"/>
      </p:guideLst>
    </p:cSldViewPr>
  </p:slideViewPr>
  <p:outlineViewPr>
    <p:cViewPr>
      <p:scale>
        <a:sx n="33" d="100"/>
        <a:sy n="33" d="100"/>
      </p:scale>
      <p:origin x="0" y="-2916"/>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29110-6972-42CD-8E7E-B9691D361295}" type="datetimeFigureOut">
              <a:rPr lang="en-IN" smtClean="0"/>
              <a:t>08-03-2026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674C37-C38A-454D-9378-E06A6EA6A22A}" type="slidenum">
              <a:rPr lang="en-IN" smtClean="0"/>
              <a:t>‹#›</a:t>
            </a:fld>
            <a:endParaRPr lang="en-IN"/>
          </a:p>
        </p:txBody>
      </p:sp>
    </p:spTree>
    <p:extLst>
      <p:ext uri="{BB962C8B-B14F-4D97-AF65-F5344CB8AC3E}">
        <p14:creationId xmlns:p14="http://schemas.microsoft.com/office/powerpoint/2010/main" val="4211665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674C37-C38A-454D-9378-E06A6EA6A22A}" type="slidenum">
              <a:rPr lang="en-IN" smtClean="0"/>
              <a:t>5</a:t>
            </a:fld>
            <a:endParaRPr lang="en-IN"/>
          </a:p>
        </p:txBody>
      </p:sp>
    </p:spTree>
    <p:extLst>
      <p:ext uri="{BB962C8B-B14F-4D97-AF65-F5344CB8AC3E}">
        <p14:creationId xmlns:p14="http://schemas.microsoft.com/office/powerpoint/2010/main" val="1812241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674C37-C38A-454D-9378-E06A6EA6A22A}" type="slidenum">
              <a:rPr lang="en-IN" smtClean="0"/>
              <a:t>11</a:t>
            </a:fld>
            <a:endParaRPr lang="en-IN"/>
          </a:p>
        </p:txBody>
      </p:sp>
    </p:spTree>
    <p:extLst>
      <p:ext uri="{BB962C8B-B14F-4D97-AF65-F5344CB8AC3E}">
        <p14:creationId xmlns:p14="http://schemas.microsoft.com/office/powerpoint/2010/main" val="3472419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674C37-C38A-454D-9378-E06A6EA6A22A}" type="slidenum">
              <a:rPr lang="en-IN" smtClean="0"/>
              <a:t>16</a:t>
            </a:fld>
            <a:endParaRPr lang="en-IN"/>
          </a:p>
        </p:txBody>
      </p:sp>
    </p:spTree>
    <p:extLst>
      <p:ext uri="{BB962C8B-B14F-4D97-AF65-F5344CB8AC3E}">
        <p14:creationId xmlns:p14="http://schemas.microsoft.com/office/powerpoint/2010/main" val="2754340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85396D3-499C-472F-ADDE-3110177F306C}"/>
              </a:ext>
            </a:extLst>
          </p:cNvPr>
          <p:cNvSpPr txBox="1"/>
          <p:nvPr/>
        </p:nvSpPr>
        <p:spPr>
          <a:xfrm>
            <a:off x="888124" y="88653"/>
            <a:ext cx="6973614" cy="615553"/>
          </a:xfrm>
          <a:prstGeom prst="rect">
            <a:avLst/>
          </a:prstGeom>
          <a:noFill/>
        </p:spPr>
        <p:txBody>
          <a:bodyPr wrap="square">
            <a:spAutoFit/>
          </a:bodyPr>
          <a:lstStyle/>
          <a:p>
            <a:pPr algn="ctr">
              <a:spcBef>
                <a:spcPts val="310"/>
              </a:spcBef>
            </a:pPr>
            <a:r>
              <a:rPr lang="en-US" sz="1800" b="1" dirty="0">
                <a:effectLst/>
                <a:latin typeface="Times New Roman" panose="02020603050405020304" pitchFamily="18" charset="0"/>
                <a:ea typeface="Times New Roman" panose="02020603050405020304" pitchFamily="18" charset="0"/>
              </a:rPr>
              <a:t>VISVESVARAYA</a:t>
            </a:r>
            <a:r>
              <a:rPr lang="en-US" sz="1800" b="1" spc="-2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TECHNOLOGICAL</a:t>
            </a:r>
            <a:r>
              <a:rPr lang="en-US" sz="1800" b="1" spc="-10" dirty="0">
                <a:effectLst/>
                <a:latin typeface="Times New Roman" panose="02020603050405020304" pitchFamily="18" charset="0"/>
                <a:ea typeface="Times New Roman" panose="02020603050405020304" pitchFamily="18" charset="0"/>
              </a:rPr>
              <a:t> UNIVERSITY</a:t>
            </a:r>
            <a:endParaRPr lang="en-IN" sz="1800" b="1" dirty="0">
              <a:effectLst/>
              <a:latin typeface="Times New Roman" panose="02020603050405020304" pitchFamily="18" charset="0"/>
              <a:ea typeface="Times New Roman" panose="02020603050405020304" pitchFamily="18" charset="0"/>
            </a:endParaRPr>
          </a:p>
          <a:p>
            <a:pPr algn="ctr"/>
            <a:r>
              <a:rPr lang="en-US" sz="1600" dirty="0">
                <a:effectLst/>
                <a:latin typeface="Times New Roman" panose="02020603050405020304" pitchFamily="18" charset="0"/>
                <a:ea typeface="Times New Roman" panose="02020603050405020304" pitchFamily="18" charset="0"/>
              </a:rPr>
              <a:t>           Jnana</a:t>
            </a:r>
            <a:r>
              <a:rPr lang="en-US" sz="1600" spc="-45"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Sangama</a:t>
            </a:r>
            <a:r>
              <a:rPr lang="en-US" sz="1600" dirty="0">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Belagavi</a:t>
            </a:r>
            <a:r>
              <a:rPr lang="en-US" sz="1600" spc="-3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t>
            </a:r>
            <a:r>
              <a:rPr lang="en-US" sz="1600" spc="-35" dirty="0">
                <a:effectLst/>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590018</a:t>
            </a:r>
            <a:endParaRPr lang="en-IN" dirty="0"/>
          </a:p>
        </p:txBody>
      </p:sp>
      <p:sp>
        <p:nvSpPr>
          <p:cNvPr id="5" name="Rectangle 5">
            <a:extLst>
              <a:ext uri="{FF2B5EF4-FFF2-40B4-BE49-F238E27FC236}">
                <a16:creationId xmlns:a16="http://schemas.microsoft.com/office/drawing/2014/main" id="{56C7C99B-CFCE-400F-BAA5-D857F052306C}"/>
              </a:ext>
            </a:extLst>
          </p:cNvPr>
          <p:cNvSpPr>
            <a:spLocks noChangeArrowheads="1"/>
          </p:cNvSpPr>
          <p:nvPr/>
        </p:nvSpPr>
        <p:spPr bwMode="auto">
          <a:xfrm>
            <a:off x="0" y="104052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6">
            <a:extLst>
              <a:ext uri="{FF2B5EF4-FFF2-40B4-BE49-F238E27FC236}">
                <a16:creationId xmlns:a16="http://schemas.microsoft.com/office/drawing/2014/main" id="{C846A382-33DA-4917-888A-F96BF48ED46B}"/>
              </a:ext>
            </a:extLst>
          </p:cNvPr>
          <p:cNvSpPr>
            <a:spLocks noChangeArrowheads="1"/>
          </p:cNvSpPr>
          <p:nvPr/>
        </p:nvSpPr>
        <p:spPr bwMode="auto">
          <a:xfrm>
            <a:off x="0" y="150089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FC8B680D-37DC-4608-877D-3E1533CCCAB9}"/>
              </a:ext>
            </a:extLst>
          </p:cNvPr>
          <p:cNvSpPr txBox="1"/>
          <p:nvPr/>
        </p:nvSpPr>
        <p:spPr>
          <a:xfrm>
            <a:off x="599089" y="2055041"/>
            <a:ext cx="7956331" cy="1523750"/>
          </a:xfrm>
          <a:prstGeom prst="rect">
            <a:avLst/>
          </a:prstGeom>
          <a:noFill/>
        </p:spPr>
        <p:txBody>
          <a:bodyPr wrap="square">
            <a:spAutoFit/>
          </a:bodyPr>
          <a:lstStyle/>
          <a:p>
            <a:pPr algn="ctr">
              <a:spcBef>
                <a:spcPts val="945"/>
              </a:spcBef>
            </a:pPr>
            <a:r>
              <a:rPr lang="en-US" sz="1400" dirty="0">
                <a:effectLst/>
                <a:latin typeface="Times New Roman" panose="02020603050405020304" pitchFamily="18" charset="0"/>
                <a:ea typeface="Times New Roman" panose="02020603050405020304" pitchFamily="18" charset="0"/>
              </a:rPr>
              <a:t>        Major Project</a:t>
            </a:r>
            <a:r>
              <a:rPr lang="en-US" sz="1400" spc="-25" dirty="0">
                <a:effectLst/>
                <a:latin typeface="Times New Roman" panose="02020603050405020304" pitchFamily="18" charset="0"/>
                <a:ea typeface="Times New Roman" panose="02020603050405020304" pitchFamily="18" charset="0"/>
              </a:rPr>
              <a:t> </a:t>
            </a:r>
            <a:r>
              <a:rPr lang="en-US" sz="1400" spc="-25" dirty="0">
                <a:latin typeface="Times New Roman" panose="02020603050405020304" pitchFamily="18" charset="0"/>
                <a:ea typeface="Times New Roman" panose="02020603050405020304" pitchFamily="18" charset="0"/>
              </a:rPr>
              <a:t>Presentation</a:t>
            </a:r>
            <a:r>
              <a:rPr lang="en-US" sz="1400" spc="-30" dirty="0">
                <a:effectLst/>
                <a:latin typeface="Times New Roman" panose="02020603050405020304" pitchFamily="18" charset="0"/>
                <a:ea typeface="Times New Roman" panose="02020603050405020304" pitchFamily="18" charset="0"/>
              </a:rPr>
              <a:t> </a:t>
            </a:r>
            <a:r>
              <a:rPr lang="en-US" sz="1400" spc="-25" dirty="0">
                <a:effectLst/>
                <a:latin typeface="Times New Roman" panose="02020603050405020304" pitchFamily="18" charset="0"/>
                <a:ea typeface="Times New Roman" panose="02020603050405020304" pitchFamily="18" charset="0"/>
              </a:rPr>
              <a:t>on</a:t>
            </a:r>
            <a:endParaRPr lang="en-IN" sz="1100" dirty="0">
              <a:effectLst/>
              <a:latin typeface="Times New Roman" panose="02020603050405020304" pitchFamily="18" charset="0"/>
              <a:ea typeface="Times New Roman" panose="02020603050405020304" pitchFamily="18" charset="0"/>
            </a:endParaRPr>
          </a:p>
          <a:p>
            <a:pPr marL="241300" marR="240030" algn="ctr">
              <a:lnSpc>
                <a:spcPct val="107000"/>
              </a:lnSpc>
              <a:spcBef>
                <a:spcPts val="935"/>
              </a:spcBef>
              <a:spcAft>
                <a:spcPts val="0"/>
              </a:spcAft>
            </a:pPr>
            <a:r>
              <a:rPr lang="en-US" sz="1800" b="1" dirty="0">
                <a:effectLst/>
                <a:latin typeface="Times New Roman" panose="02020603050405020304" pitchFamily="18" charset="0"/>
                <a:ea typeface="Times New Roman" panose="02020603050405020304" pitchFamily="18" charset="0"/>
              </a:rPr>
              <a:t>“</a:t>
            </a:r>
            <a:r>
              <a:rPr lang="en-US" b="1" dirty="0">
                <a:latin typeface="Times New Roman" panose="02020603050405020304" pitchFamily="18" charset="0"/>
                <a:ea typeface="Times New Roman" panose="02020603050405020304" pitchFamily="18" charset="0"/>
              </a:rPr>
              <a:t>ANALYSIS OF THE IMPACT OF AUTONOMOUS HYBRID POWER PLANTS ON THE RAILWAY CAPACITY</a:t>
            </a:r>
            <a:r>
              <a:rPr lang="en-US" sz="1800" b="1" spc="-10" dirty="0">
                <a:effectLst/>
                <a:latin typeface="Times New Roman" panose="02020603050405020304" pitchFamily="18" charset="0"/>
                <a:ea typeface="Times New Roman" panose="02020603050405020304" pitchFamily="18" charset="0"/>
              </a:rPr>
              <a:t>”</a:t>
            </a:r>
            <a:endParaRPr lang="en-IN" sz="1800" b="1" dirty="0">
              <a:effectLst/>
              <a:latin typeface="Times New Roman" panose="02020603050405020304" pitchFamily="18" charset="0"/>
              <a:ea typeface="Times New Roman" panose="02020603050405020304" pitchFamily="18" charset="0"/>
            </a:endParaRPr>
          </a:p>
          <a:p>
            <a:pPr>
              <a:spcBef>
                <a:spcPts val="1750"/>
              </a:spcBef>
            </a:pPr>
            <a:r>
              <a:rPr lang="en-US" sz="1800" b="1"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p:txBody>
      </p:sp>
      <p:sp>
        <p:nvSpPr>
          <p:cNvPr id="15" name="TextBox 14">
            <a:extLst>
              <a:ext uri="{FF2B5EF4-FFF2-40B4-BE49-F238E27FC236}">
                <a16:creationId xmlns:a16="http://schemas.microsoft.com/office/drawing/2014/main" id="{B51CB554-8DC7-4A96-9673-4109C2FFD30B}"/>
              </a:ext>
            </a:extLst>
          </p:cNvPr>
          <p:cNvSpPr txBox="1"/>
          <p:nvPr/>
        </p:nvSpPr>
        <p:spPr>
          <a:xfrm>
            <a:off x="819807" y="2758648"/>
            <a:ext cx="7504386" cy="2303195"/>
          </a:xfrm>
          <a:prstGeom prst="rect">
            <a:avLst/>
          </a:prstGeom>
          <a:noFill/>
        </p:spPr>
        <p:txBody>
          <a:bodyPr wrap="square">
            <a:spAutoFit/>
          </a:bodyPr>
          <a:lstStyle/>
          <a:p>
            <a:pPr marL="635" algn="ctr">
              <a:spcBef>
                <a:spcPts val="5"/>
              </a:spcBef>
              <a:spcAft>
                <a:spcPts val="0"/>
              </a:spcAft>
            </a:pPr>
            <a:endParaRPr lang="en-US" sz="1800" dirty="0">
              <a:effectLst/>
              <a:latin typeface="Times New Roman" panose="02020603050405020304" pitchFamily="18" charset="0"/>
              <a:ea typeface="Times New Roman" panose="02020603050405020304" pitchFamily="18" charset="0"/>
            </a:endParaRPr>
          </a:p>
          <a:p>
            <a:pPr marL="635" algn="ctr">
              <a:spcBef>
                <a:spcPts val="5"/>
              </a:spcBef>
              <a:spcAft>
                <a:spcPts val="0"/>
              </a:spcAft>
            </a:pPr>
            <a:r>
              <a:rPr lang="en-US" sz="1800" dirty="0">
                <a:effectLst/>
                <a:latin typeface="Times New Roman" panose="02020603050405020304" pitchFamily="18" charset="0"/>
                <a:ea typeface="Times New Roman" panose="02020603050405020304" pitchFamily="18" charset="0"/>
              </a:rPr>
              <a:t>Submitted</a:t>
            </a:r>
            <a:r>
              <a:rPr lang="en-US" sz="1800" spc="-45" dirty="0">
                <a:effectLst/>
                <a:latin typeface="Times New Roman" panose="02020603050405020304" pitchFamily="18" charset="0"/>
                <a:ea typeface="Times New Roman" panose="02020603050405020304" pitchFamily="18" charset="0"/>
              </a:rPr>
              <a:t> </a:t>
            </a:r>
            <a:r>
              <a:rPr lang="en-US" sz="1800" spc="-25" dirty="0">
                <a:effectLst/>
                <a:latin typeface="Times New Roman" panose="02020603050405020304" pitchFamily="18" charset="0"/>
                <a:ea typeface="Times New Roman" panose="02020603050405020304" pitchFamily="18" charset="0"/>
              </a:rPr>
              <a:t>by</a:t>
            </a:r>
            <a:endParaRPr lang="en-IN" sz="14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600" dirty="0">
              <a:latin typeface="Times New Roman" panose="02020603050405020304" pitchFamily="18" charset="0"/>
              <a:ea typeface="Times New Roman" panose="02020603050405020304" pitchFamily="18" charset="0"/>
            </a:endParaRPr>
          </a:p>
          <a:p>
            <a:r>
              <a:rPr lang="en-IN" sz="1600" b="1"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BHAGAVAN M	                             </a:t>
            </a:r>
            <a:r>
              <a:rPr lang="en-US" sz="1800" b="1" spc="-10" dirty="0">
                <a:effectLst/>
                <a:latin typeface="Times New Roman" panose="02020603050405020304" pitchFamily="18" charset="0"/>
                <a:ea typeface="Times New Roman" panose="02020603050405020304" pitchFamily="18" charset="0"/>
              </a:rPr>
              <a:t>4HG23EE009</a:t>
            </a:r>
            <a:endParaRPr lang="en-IN" spc="-10" dirty="0">
              <a:latin typeface="Times New Roman" panose="02020603050405020304" pitchFamily="18" charset="0"/>
              <a:ea typeface="Times New Roman" panose="02020603050405020304" pitchFamily="18" charset="0"/>
            </a:endParaRPr>
          </a:p>
          <a:p>
            <a:r>
              <a:rPr lang="en-IN"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CHAITHRA B H	</a:t>
            </a:r>
            <a:r>
              <a:rPr lang="en-US" sz="1800" b="1" spc="-90"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4HG23EE013 </a:t>
            </a:r>
          </a:p>
          <a:p>
            <a:r>
              <a:rPr lang="en-US" b="1" spc="-10" dirty="0">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DEVIKA BASAVARAJ TELI</a:t>
            </a:r>
            <a:r>
              <a:rPr lang="en-US" sz="1800" b="1"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4HG23EE017 </a:t>
            </a:r>
          </a:p>
          <a:p>
            <a:r>
              <a:rPr lang="en-US" b="1" spc="-10" dirty="0">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MOHAMED SUHAIL</a:t>
            </a:r>
            <a:r>
              <a:rPr lang="en-US" sz="1800" b="1"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4HG24EE404</a:t>
            </a:r>
            <a:endParaRPr lang="en-IN" sz="1800" dirty="0">
              <a:effectLst/>
              <a:latin typeface="Times New Roman" panose="02020603050405020304" pitchFamily="18" charset="0"/>
              <a:ea typeface="Times New Roman" panose="02020603050405020304" pitchFamily="18" charset="0"/>
            </a:endParaRPr>
          </a:p>
          <a:p>
            <a:pPr>
              <a:spcBef>
                <a:spcPts val="245"/>
              </a:spcBef>
            </a:pPr>
            <a:endParaRPr lang="en-IN" sz="1600" dirty="0">
              <a:effectLst/>
              <a:latin typeface="Times New Roman" panose="02020603050405020304" pitchFamily="18" charset="0"/>
              <a:ea typeface="Times New Roman" panose="02020603050405020304" pitchFamily="18" charset="0"/>
            </a:endParaRPr>
          </a:p>
        </p:txBody>
      </p:sp>
      <p:sp>
        <p:nvSpPr>
          <p:cNvPr id="21" name="TextBox 20">
            <a:extLst>
              <a:ext uri="{FF2B5EF4-FFF2-40B4-BE49-F238E27FC236}">
                <a16:creationId xmlns:a16="http://schemas.microsoft.com/office/drawing/2014/main" id="{63410124-59D0-4333-9845-1A49586559AD}"/>
              </a:ext>
            </a:extLst>
          </p:cNvPr>
          <p:cNvSpPr txBox="1"/>
          <p:nvPr/>
        </p:nvSpPr>
        <p:spPr>
          <a:xfrm>
            <a:off x="1021310" y="4869855"/>
            <a:ext cx="4572000" cy="646331"/>
          </a:xfrm>
          <a:prstGeom prst="rect">
            <a:avLst/>
          </a:prstGeom>
          <a:noFill/>
        </p:spPr>
        <p:txBody>
          <a:bodyPr wrap="square">
            <a:spAutoFit/>
          </a:bodyPr>
          <a:lstStyle/>
          <a:p>
            <a:pPr>
              <a:spcBef>
                <a:spcPts val="900"/>
              </a:spcBef>
            </a:pPr>
            <a:r>
              <a:rPr lang="en-US" sz="1800" b="1"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Under</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guidance</a:t>
            </a:r>
            <a:endParaRPr lang="en-IN" sz="1400" dirty="0">
              <a:effectLst/>
              <a:latin typeface="Times New Roman" panose="02020603050405020304" pitchFamily="18" charset="0"/>
              <a:ea typeface="Times New Roman" panose="02020603050405020304" pitchFamily="18" charset="0"/>
            </a:endParaRPr>
          </a:p>
        </p:txBody>
      </p:sp>
      <p:sp>
        <p:nvSpPr>
          <p:cNvPr id="27" name="TextBox 26">
            <a:extLst>
              <a:ext uri="{FF2B5EF4-FFF2-40B4-BE49-F238E27FC236}">
                <a16:creationId xmlns:a16="http://schemas.microsoft.com/office/drawing/2014/main" id="{64BB6A5F-3D58-42F5-82AF-B113C37CE623}"/>
              </a:ext>
            </a:extLst>
          </p:cNvPr>
          <p:cNvSpPr txBox="1"/>
          <p:nvPr/>
        </p:nvSpPr>
        <p:spPr>
          <a:xfrm>
            <a:off x="888124" y="5662589"/>
            <a:ext cx="4572000" cy="646331"/>
          </a:xfrm>
          <a:prstGeom prst="rect">
            <a:avLst/>
          </a:prstGeom>
          <a:noFill/>
        </p:spPr>
        <p:txBody>
          <a:bodyPr wrap="square">
            <a:spAutoFit/>
          </a:bodyPr>
          <a:lstStyle/>
          <a:p>
            <a:pPr>
              <a:tabLst>
                <a:tab pos="3679825" algn="l"/>
              </a:tabLst>
            </a:pPr>
            <a:r>
              <a:rPr lang="en-US" sz="1800" b="1" dirty="0">
                <a:effectLst/>
                <a:latin typeface="Times New Roman" panose="02020603050405020304" pitchFamily="18" charset="0"/>
                <a:ea typeface="Times New Roman" panose="02020603050405020304" pitchFamily="18" charset="0"/>
              </a:rPr>
              <a:t>Prof. NANDINI K </a:t>
            </a:r>
          </a:p>
          <a:p>
            <a:pPr>
              <a:tabLst>
                <a:tab pos="3679825" algn="l"/>
              </a:tabLst>
            </a:pPr>
            <a:r>
              <a:rPr lang="en-US" sz="1800" dirty="0">
                <a:effectLst/>
                <a:latin typeface="Times New Roman" panose="02020603050405020304" pitchFamily="18" charset="0"/>
                <a:ea typeface="Times New Roman" panose="02020603050405020304" pitchFamily="18" charset="0"/>
              </a:rPr>
              <a:t>Assistant</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Professor </a:t>
            </a:r>
            <a:endParaRPr lang="en-IN" dirty="0"/>
          </a:p>
        </p:txBody>
      </p:sp>
      <p:sp>
        <p:nvSpPr>
          <p:cNvPr id="29" name="TextBox 28">
            <a:extLst>
              <a:ext uri="{FF2B5EF4-FFF2-40B4-BE49-F238E27FC236}">
                <a16:creationId xmlns:a16="http://schemas.microsoft.com/office/drawing/2014/main" id="{21BD3307-FCBB-4209-B0E3-135F86B37698}"/>
              </a:ext>
            </a:extLst>
          </p:cNvPr>
          <p:cNvSpPr txBox="1"/>
          <p:nvPr/>
        </p:nvSpPr>
        <p:spPr>
          <a:xfrm>
            <a:off x="5428593" y="5634825"/>
            <a:ext cx="4572000" cy="1077218"/>
          </a:xfrm>
          <a:prstGeom prst="rect">
            <a:avLst/>
          </a:prstGeom>
          <a:noFill/>
        </p:spPr>
        <p:txBody>
          <a:bodyPr wrap="square">
            <a:spAutoFit/>
          </a:bodyPr>
          <a:lstStyle/>
          <a:p>
            <a:pPr>
              <a:tabLst>
                <a:tab pos="3679825" algn="l"/>
              </a:tabLst>
            </a:pPr>
            <a:r>
              <a:rPr lang="en-US" sz="1800" b="1" dirty="0">
                <a:effectLst/>
                <a:latin typeface="Times New Roman" panose="02020603050405020304" pitchFamily="18" charset="0"/>
                <a:ea typeface="Times New Roman" panose="02020603050405020304" pitchFamily="18" charset="0"/>
              </a:rPr>
              <a:t>Dr.</a:t>
            </a:r>
            <a:r>
              <a:rPr lang="en-US" sz="1800" b="1" spc="-2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RUDRAPPA</a:t>
            </a:r>
            <a:r>
              <a:rPr lang="en-US" sz="1800" b="1" spc="-3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K </a:t>
            </a:r>
            <a:r>
              <a:rPr lang="en-US" sz="1800" b="1" spc="-50" dirty="0">
                <a:effectLst/>
                <a:latin typeface="Times New Roman" panose="02020603050405020304" pitchFamily="18" charset="0"/>
                <a:ea typeface="Times New Roman" panose="02020603050405020304" pitchFamily="18" charset="0"/>
              </a:rPr>
              <a:t>M</a:t>
            </a:r>
            <a:r>
              <a:rPr lang="en-US" sz="1800" dirty="0">
                <a:effectLst/>
                <a:latin typeface="Times New Roman" panose="02020603050405020304" pitchFamily="18" charset="0"/>
                <a:ea typeface="Times New Roman" panose="02020603050405020304" pitchFamily="18" charset="0"/>
              </a:rPr>
              <a:t>                                                    Associate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Professor</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&amp;</a:t>
            </a:r>
            <a:r>
              <a:rPr lang="en-US" sz="1800" spc="-20" dirty="0">
                <a:effectLst/>
                <a:latin typeface="Times New Roman" panose="02020603050405020304" pitchFamily="18" charset="0"/>
                <a:ea typeface="Times New Roman" panose="02020603050405020304" pitchFamily="18" charset="0"/>
              </a:rPr>
              <a:t> </a:t>
            </a:r>
            <a:r>
              <a:rPr lang="en-US" sz="1800" spc="-25" dirty="0">
                <a:effectLst/>
                <a:latin typeface="Times New Roman" panose="02020603050405020304" pitchFamily="18" charset="0"/>
                <a:ea typeface="Times New Roman" panose="02020603050405020304" pitchFamily="18" charset="0"/>
              </a:rPr>
              <a:t>HOD</a:t>
            </a:r>
            <a:endParaRPr lang="en-IN" sz="1400" dirty="0">
              <a:effectLst/>
              <a:latin typeface="Times New Roman" panose="02020603050405020304" pitchFamily="18" charset="0"/>
              <a:ea typeface="Times New Roman" panose="02020603050405020304" pitchFamily="18" charset="0"/>
            </a:endParaRPr>
          </a:p>
          <a:p>
            <a:pPr>
              <a:spcBef>
                <a:spcPts val="1175"/>
              </a:spcBef>
            </a:pPr>
            <a:r>
              <a:rPr lang="en-US" sz="18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p:txBody>
      </p:sp>
      <p:pic>
        <p:nvPicPr>
          <p:cNvPr id="2" name="Image 1">
            <a:extLst>
              <a:ext uri="{FF2B5EF4-FFF2-40B4-BE49-F238E27FC236}">
                <a16:creationId xmlns:a16="http://schemas.microsoft.com/office/drawing/2014/main" id="{61E2B495-8A3D-455E-9BB9-4F4475248C3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0717" y="1044994"/>
            <a:ext cx="1082567" cy="874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99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714AB-1D1C-4B1F-9121-1880D1108A9F}"/>
              </a:ext>
            </a:extLst>
          </p:cNvPr>
          <p:cNvSpPr>
            <a:spLocks noGrp="1"/>
          </p:cNvSpPr>
          <p:nvPr>
            <p:ph type="title"/>
          </p:nvPr>
        </p:nvSpPr>
        <p:spPr>
          <a:xfrm>
            <a:off x="457200" y="23018"/>
            <a:ext cx="8229600" cy="1143000"/>
          </a:xfrm>
        </p:spPr>
        <p:txBody>
          <a:bodyPr/>
          <a:lstStyle/>
          <a:p>
            <a:r>
              <a:rPr lang="en-US" dirty="0">
                <a:latin typeface="Times New Roman" panose="02020603050405020304" pitchFamily="18" charset="0"/>
                <a:cs typeface="Times New Roman" panose="02020603050405020304" pitchFamily="18" charset="0"/>
              </a:rPr>
              <a:t>Contents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D0041A-17DE-4066-B296-6B05EBB9DF12}"/>
              </a:ext>
            </a:extLst>
          </p:cNvPr>
          <p:cNvSpPr>
            <a:spLocks noGrp="1"/>
          </p:cNvSpPr>
          <p:nvPr>
            <p:ph idx="1"/>
          </p:nvPr>
        </p:nvSpPr>
        <p:spPr>
          <a:xfrm>
            <a:off x="320566" y="793067"/>
            <a:ext cx="8229600" cy="4525963"/>
          </a:xfrm>
        </p:spPr>
        <p:txBody>
          <a:bodyPr>
            <a:normAutofit fontScale="25000" lnSpcReduction="20000"/>
          </a:bodyPr>
          <a:lstStyle/>
          <a:p>
            <a:pPr lvl="0" algn="l" fontAlgn="base">
              <a:lnSpc>
                <a:spcPct val="120000"/>
              </a:lnSpc>
              <a:spcAft>
                <a:spcPts val="1330"/>
              </a:spcAft>
              <a:buClr>
                <a:srgbClr val="000000"/>
              </a:buClr>
              <a:buSzPts val="1400"/>
              <a:buFont typeface="Wingdings" panose="05000000000000000000" pitchFamily="2" charset="2"/>
              <a:buChar char="v"/>
            </a:pP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Abstract </a:t>
            </a:r>
            <a:endParaRPr lang="en-IN" sz="7200" dirty="0">
              <a:solidFill>
                <a:srgbClr val="000000"/>
              </a:solidFill>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0" algn="l" fontAlgn="base">
              <a:lnSpc>
                <a:spcPct val="120000"/>
              </a:lnSpc>
              <a:spcAft>
                <a:spcPts val="1330"/>
              </a:spcAft>
              <a:buClr>
                <a:srgbClr val="000000"/>
              </a:buClr>
              <a:buSzPts val="1400"/>
              <a:buFont typeface="Wingdings" panose="05000000000000000000" pitchFamily="2" charset="2"/>
              <a:buChar char="v"/>
            </a:pP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Introduction </a:t>
            </a:r>
            <a:endParaRPr lang="en-IN" sz="7200" dirty="0">
              <a:solidFill>
                <a:srgbClr val="000000"/>
              </a:solidFill>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0" algn="l" fontAlgn="base">
              <a:lnSpc>
                <a:spcPct val="120000"/>
              </a:lnSpc>
              <a:spcAft>
                <a:spcPts val="1330"/>
              </a:spcAft>
              <a:buClr>
                <a:srgbClr val="000000"/>
              </a:buClr>
              <a:buSzPts val="1400"/>
              <a:buFont typeface="Wingdings" panose="05000000000000000000" pitchFamily="2" charset="2"/>
              <a:buChar char="v"/>
            </a:pP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Literature Survey </a:t>
            </a:r>
            <a:r>
              <a:rPr lang="en-IN" sz="7200" dirty="0">
                <a:solidFill>
                  <a:srgbClr val="000000"/>
                </a:solidFill>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a:t>
            </a:r>
          </a:p>
          <a:p>
            <a:pPr lvl="0" algn="l" fontAlgn="base">
              <a:lnSpc>
                <a:spcPct val="120000"/>
              </a:lnSpc>
              <a:spcAft>
                <a:spcPts val="1330"/>
              </a:spcAft>
              <a:buClr>
                <a:srgbClr val="000000"/>
              </a:buClr>
              <a:buSzPts val="1400"/>
              <a:buFont typeface="Wingdings" panose="05000000000000000000" pitchFamily="2" charset="2"/>
              <a:buChar char="v"/>
            </a:pP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Existing System </a:t>
            </a:r>
            <a:endParaRPr lang="en-IN" sz="7200" dirty="0">
              <a:solidFill>
                <a:srgbClr val="000000"/>
              </a:solidFill>
              <a:latin typeface="Times New Roman" panose="02020603050405020304" pitchFamily="18" charset="0"/>
              <a:ea typeface="Arial" panose="020B0604020202020204" pitchFamily="34" charset="0"/>
              <a:cs typeface="Times New Roman" panose="02020603050405020304" pitchFamily="18" charset="0"/>
            </a:endParaRPr>
          </a:p>
          <a:p>
            <a:pPr lvl="0" algn="l" fontAlgn="base">
              <a:lnSpc>
                <a:spcPct val="120000"/>
              </a:lnSpc>
              <a:spcAft>
                <a:spcPts val="1330"/>
              </a:spcAft>
              <a:buClr>
                <a:srgbClr val="000000"/>
              </a:buClr>
              <a:buSzPts val="1400"/>
              <a:buFont typeface="Wingdings" panose="05000000000000000000" pitchFamily="2" charset="2"/>
              <a:buChar char="v"/>
            </a:pP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Limitations </a:t>
            </a:r>
            <a:endParaRPr lang="en-IN" sz="7200" dirty="0">
              <a:solidFill>
                <a:srgbClr val="000000"/>
              </a:solidFill>
              <a:latin typeface="Times New Roman" panose="02020603050405020304" pitchFamily="18" charset="0"/>
              <a:ea typeface="Arial" panose="020B0604020202020204" pitchFamily="34" charset="0"/>
              <a:cs typeface="Times New Roman" panose="02020603050405020304" pitchFamily="18" charset="0"/>
            </a:endParaRPr>
          </a:p>
          <a:p>
            <a:pPr lvl="0" algn="l" fontAlgn="base">
              <a:lnSpc>
                <a:spcPct val="120000"/>
              </a:lnSpc>
              <a:spcAft>
                <a:spcPts val="1330"/>
              </a:spcAft>
              <a:buClr>
                <a:srgbClr val="000000"/>
              </a:buClr>
              <a:buSzPts val="1400"/>
              <a:buFont typeface="Wingdings" panose="05000000000000000000" pitchFamily="2" charset="2"/>
              <a:buChar char="v"/>
            </a:pP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Problem Definition </a:t>
            </a:r>
            <a:endParaRPr lang="en-IN" sz="7200" dirty="0">
              <a:solidFill>
                <a:srgbClr val="000000"/>
              </a:solidFill>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0" algn="l" fontAlgn="base">
              <a:lnSpc>
                <a:spcPct val="120000"/>
              </a:lnSpc>
              <a:spcAft>
                <a:spcPts val="1330"/>
              </a:spcAft>
              <a:buClr>
                <a:srgbClr val="000000"/>
              </a:buClr>
              <a:buSzPts val="1400"/>
              <a:buFont typeface="Wingdings" panose="05000000000000000000" pitchFamily="2" charset="2"/>
              <a:buChar char="v"/>
            </a:pP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Objectives </a:t>
            </a:r>
            <a:endParaRPr lang="en-IN" sz="7200" dirty="0">
              <a:solidFill>
                <a:srgbClr val="000000"/>
              </a:solidFill>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0" algn="l" fontAlgn="base">
              <a:lnSpc>
                <a:spcPct val="120000"/>
              </a:lnSpc>
              <a:spcAft>
                <a:spcPts val="1330"/>
              </a:spcAft>
              <a:buClr>
                <a:srgbClr val="000000"/>
              </a:buClr>
              <a:buSzPts val="1400"/>
              <a:buFont typeface="Wingdings" panose="05000000000000000000" pitchFamily="2" charset="2"/>
              <a:buChar char="v"/>
            </a:pP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Block Diagram And </a:t>
            </a:r>
            <a:r>
              <a:rPr lang="en-IN" sz="7200" b="1" dirty="0">
                <a:solidFill>
                  <a:srgbClr val="000000"/>
                </a:solidFill>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Components</a:t>
            </a: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a:t>
            </a:r>
          </a:p>
          <a:p>
            <a:pPr lvl="0" algn="l" fontAlgn="base">
              <a:lnSpc>
                <a:spcPct val="120000"/>
              </a:lnSpc>
              <a:spcAft>
                <a:spcPts val="1330"/>
              </a:spcAft>
              <a:buClr>
                <a:srgbClr val="000000"/>
              </a:buClr>
              <a:buSzPts val="1400"/>
              <a:buFont typeface="Wingdings" panose="05000000000000000000" pitchFamily="2" charset="2"/>
              <a:buChar char="v"/>
            </a:pP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Applications </a:t>
            </a:r>
            <a:endParaRPr lang="en-IN" sz="7200" b="1" dirty="0">
              <a:solidFill>
                <a:srgbClr val="000000"/>
              </a:solidFill>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0" algn="l" fontAlgn="base">
              <a:lnSpc>
                <a:spcPct val="120000"/>
              </a:lnSpc>
              <a:spcAft>
                <a:spcPts val="1330"/>
              </a:spcAft>
              <a:buClr>
                <a:srgbClr val="000000"/>
              </a:buClr>
              <a:buSzPts val="1400"/>
              <a:buFont typeface="Wingdings" panose="05000000000000000000" pitchFamily="2" charset="2"/>
              <a:buChar char="v"/>
            </a:pPr>
            <a:r>
              <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Expected Result </a:t>
            </a:r>
          </a:p>
          <a:p>
            <a:pPr lvl="0" algn="l" fontAlgn="base">
              <a:lnSpc>
                <a:spcPct val="120000"/>
              </a:lnSpc>
              <a:spcAft>
                <a:spcPts val="1330"/>
              </a:spcAft>
              <a:buClr>
                <a:srgbClr val="000000"/>
              </a:buClr>
              <a:buSzPts val="1400"/>
              <a:buFont typeface="Wingdings" panose="05000000000000000000" pitchFamily="2" charset="2"/>
              <a:buChar char="v"/>
            </a:pPr>
            <a:r>
              <a:rPr lang="en-IN" sz="7200" b="1" dirty="0">
                <a:solidFill>
                  <a:srgbClr val="000000"/>
                </a:solidFill>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References</a:t>
            </a:r>
            <a:endParaRPr lang="en-IN" sz="7200" b="1"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marL="228600" indent="0" algn="l">
              <a:lnSpc>
                <a:spcPct val="170000"/>
              </a:lnSpc>
              <a:spcAft>
                <a:spcPts val="30"/>
              </a:spcAft>
              <a:buNone/>
            </a:pPr>
            <a:endParaRPr lang="en-IN" sz="80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30076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457200" y="1600200"/>
            <a:ext cx="8156602" cy="4525963"/>
          </a:xfrm>
        </p:spPr>
        <p:txBody>
          <a:bodyPr>
            <a:normAutofit fontScale="92500" lnSpcReduction="20000"/>
          </a:bodyPr>
          <a:lstStyle/>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Low voltage in sections far from substations reduces railway capacity.</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Autonomous Hybrid Power Plants (AHPP) proposed as additional power sources.</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AHPP structure and interaction with the railway network are described.</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Implementation improves voltage stability and supports efficient railway operations.</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593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NTRODUCTION</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6841" y="1504348"/>
            <a:ext cx="8339959" cy="5353652"/>
          </a:xfrm>
        </p:spPr>
        <p:txBody>
          <a:bodyPr>
            <a:normAutofit fontScale="77500" lnSpcReduction="20000"/>
          </a:bodyPr>
          <a:lstStyle/>
          <a:p>
            <a:pPr>
              <a:lnSpc>
                <a:spcPct val="17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Railway electrification requires a stable and continuous power supply for efficient train operation.</a:t>
            </a:r>
          </a:p>
          <a:p>
            <a:pPr>
              <a:lnSpc>
                <a:spcPct val="17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long-distance railway tracks, voltage drop often occurs due to the large distance between traction substations and moving trains.</a:t>
            </a:r>
          </a:p>
          <a:p>
            <a:pPr>
              <a:lnSpc>
                <a:spcPct val="17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voltage reduction affects train acceleration, decreases system efficiency, and limits the carrying capacity of the railway line.</a:t>
            </a:r>
          </a:p>
          <a:p>
            <a:pPr>
              <a:lnSpc>
                <a:spcPct val="17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overcome these challenges, an Autonomous Hybrid Power Plant (AHPP) can support the railway electrification system by maintaining stable voltage and improving overall power quality.</a:t>
            </a:r>
          </a:p>
        </p:txBody>
      </p:sp>
    </p:spTree>
    <p:extLst>
      <p:ext uri="{BB962C8B-B14F-4D97-AF65-F5344CB8AC3E}">
        <p14:creationId xmlns:p14="http://schemas.microsoft.com/office/powerpoint/2010/main" val="1647441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8A58B-8E38-BC45-8E72-EF6E59B4D171}"/>
              </a:ext>
            </a:extLst>
          </p:cNvPr>
          <p:cNvSpPr>
            <a:spLocks noGrp="1"/>
          </p:cNvSpPr>
          <p:nvPr>
            <p:ph type="title"/>
          </p:nvPr>
        </p:nvSpPr>
        <p:spPr>
          <a:xfrm>
            <a:off x="232230" y="-186189"/>
            <a:ext cx="8229600" cy="1143000"/>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DB61A4BD-D457-65E0-337B-DC60C448781C}"/>
              </a:ext>
            </a:extLst>
          </p:cNvPr>
          <p:cNvGraphicFramePr>
            <a:graphicFrameLocks noGrp="1"/>
          </p:cNvGraphicFramePr>
          <p:nvPr>
            <p:ph idx="1"/>
            <p:extLst>
              <p:ext uri="{D42A27DB-BD31-4B8C-83A1-F6EECF244321}">
                <p14:modId xmlns:p14="http://schemas.microsoft.com/office/powerpoint/2010/main" val="1469491916"/>
              </p:ext>
            </p:extLst>
          </p:nvPr>
        </p:nvGraphicFramePr>
        <p:xfrm>
          <a:off x="0" y="972459"/>
          <a:ext cx="9143999" cy="6704794"/>
        </p:xfrm>
        <a:graphic>
          <a:graphicData uri="http://schemas.openxmlformats.org/drawingml/2006/table">
            <a:tbl>
              <a:tblPr firstRow="1" bandRow="1">
                <a:tableStyleId>{5C22544A-7EE6-4342-B048-85BDC9FD1C3A}</a:tableStyleId>
              </a:tblPr>
              <a:tblGrid>
                <a:gridCol w="846667">
                  <a:extLst>
                    <a:ext uri="{9D8B030D-6E8A-4147-A177-3AD203B41FA5}">
                      <a16:colId xmlns:a16="http://schemas.microsoft.com/office/drawing/2014/main" val="1706903955"/>
                    </a:ext>
                  </a:extLst>
                </a:gridCol>
                <a:gridCol w="1401233">
                  <a:extLst>
                    <a:ext uri="{9D8B030D-6E8A-4147-A177-3AD203B41FA5}">
                      <a16:colId xmlns:a16="http://schemas.microsoft.com/office/drawing/2014/main" val="2473715083"/>
                    </a:ext>
                  </a:extLst>
                </a:gridCol>
                <a:gridCol w="1771650">
                  <a:extLst>
                    <a:ext uri="{9D8B030D-6E8A-4147-A177-3AD203B41FA5}">
                      <a16:colId xmlns:a16="http://schemas.microsoft.com/office/drawing/2014/main" val="4230580918"/>
                    </a:ext>
                  </a:extLst>
                </a:gridCol>
                <a:gridCol w="1657350">
                  <a:extLst>
                    <a:ext uri="{9D8B030D-6E8A-4147-A177-3AD203B41FA5}">
                      <a16:colId xmlns:a16="http://schemas.microsoft.com/office/drawing/2014/main" val="3402134083"/>
                    </a:ext>
                  </a:extLst>
                </a:gridCol>
                <a:gridCol w="1943099">
                  <a:extLst>
                    <a:ext uri="{9D8B030D-6E8A-4147-A177-3AD203B41FA5}">
                      <a16:colId xmlns:a16="http://schemas.microsoft.com/office/drawing/2014/main" val="2871430491"/>
                    </a:ext>
                  </a:extLst>
                </a:gridCol>
                <a:gridCol w="1524000">
                  <a:extLst>
                    <a:ext uri="{9D8B030D-6E8A-4147-A177-3AD203B41FA5}">
                      <a16:colId xmlns:a16="http://schemas.microsoft.com/office/drawing/2014/main" val="1443260362"/>
                    </a:ext>
                  </a:extLst>
                </a:gridCol>
              </a:tblGrid>
              <a:tr h="1214584">
                <a:tc>
                  <a:txBody>
                    <a:bodyPr/>
                    <a:lstStyle/>
                    <a:p>
                      <a:r>
                        <a:rPr lang="en-US" b="1" dirty="0">
                          <a:latin typeface="Times New Roman" panose="02020603050405020304" pitchFamily="18" charset="0"/>
                          <a:cs typeface="Times New Roman" panose="02020603050405020304" pitchFamily="18" charset="0"/>
                        </a:rPr>
                        <a:t>Sl.</a:t>
                      </a:r>
                    </a:p>
                    <a:p>
                      <a:r>
                        <a:rPr lang="en-US" b="1" dirty="0">
                          <a:latin typeface="Times New Roman" panose="02020603050405020304" pitchFamily="18" charset="0"/>
                          <a:cs typeface="Times New Roman" panose="02020603050405020304" pitchFamily="18" charset="0"/>
                        </a:rPr>
                        <a:t>No..</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Author’s</a:t>
                      </a:r>
                    </a:p>
                    <a:p>
                      <a:r>
                        <a:rPr lang="en-US" b="1" dirty="0">
                          <a:latin typeface="Times New Roman" panose="02020603050405020304" pitchFamily="18" charset="0"/>
                          <a:cs typeface="Times New Roman" panose="02020603050405020304" pitchFamily="18" charset="0"/>
                        </a:rPr>
                        <a:t>Name</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Title &amp;Publication year</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Working Principle/</a:t>
                      </a:r>
                    </a:p>
                    <a:p>
                      <a:r>
                        <a:rPr lang="en-US" b="1" dirty="0">
                          <a:latin typeface="Times New Roman" panose="02020603050405020304" pitchFamily="18" charset="0"/>
                          <a:cs typeface="Times New Roman" panose="02020603050405020304" pitchFamily="18" charset="0"/>
                        </a:rPr>
                        <a:t>Method’s</a:t>
                      </a:r>
                    </a:p>
                  </a:txBody>
                  <a:tcPr/>
                </a:tc>
                <a:tc>
                  <a:txBody>
                    <a:bodyPr/>
                    <a:lstStyle/>
                    <a:p>
                      <a:r>
                        <a:rPr lang="en-US" b="1" dirty="0">
                          <a:latin typeface="Times New Roman" panose="02020603050405020304" pitchFamily="18" charset="0"/>
                          <a:cs typeface="Times New Roman" panose="02020603050405020304" pitchFamily="18" charset="0"/>
                        </a:rPr>
                        <a:t>Merits</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Demerits</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50557657"/>
                  </a:ext>
                </a:extLst>
              </a:tr>
              <a:tr h="2559864">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Sengor, H.C Kilickiran and H Akdemir </a:t>
                      </a:r>
                      <a:endParaRPr lang="en-IN" sz="16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 Energy Management of a Smart Railway</a:t>
                      </a:r>
                    </a:p>
                    <a:p>
                      <a:pPr>
                        <a:lnSpc>
                          <a:spcPct val="150000"/>
                        </a:lnSpc>
                      </a:pPr>
                      <a:r>
                        <a:rPr lang="en-US" sz="1600" dirty="0">
                          <a:latin typeface="Times New Roman" panose="02020603050405020304" pitchFamily="18" charset="0"/>
                          <a:cs typeface="Times New Roman" panose="02020603050405020304" pitchFamily="18" charset="0"/>
                        </a:rPr>
                        <a:t>Power Supply System With Renewable Energy Sources and Energy Storage system”(2021)</a:t>
                      </a:r>
                      <a:endParaRPr lang="en-IN" sz="1600" dirty="0">
                        <a:latin typeface="Times New Roman" panose="02020603050405020304" pitchFamily="18" charset="0"/>
                        <a:cs typeface="Times New Roman" panose="02020603050405020304" pitchFamily="18" charset="0"/>
                      </a:endParaRPr>
                    </a:p>
                  </a:txBody>
                  <a:tcPr/>
                </a:tc>
                <a:tc>
                  <a:txBody>
                    <a:bodyPr/>
                    <a:lstStyle/>
                    <a:p>
                      <a:pPr algn="l">
                        <a:lnSpc>
                          <a:spcPct val="150000"/>
                        </a:lnSpc>
                      </a:pPr>
                      <a:r>
                        <a:rPr lang="en-US" sz="1600" dirty="0">
                          <a:effectLst/>
                          <a:latin typeface="Times New Roman" panose="02020603050405020304" pitchFamily="18" charset="0"/>
                          <a:ea typeface="Times New Roman" panose="02020603050405020304" pitchFamily="18" charset="0"/>
                        </a:rPr>
                        <a:t> Solar PV and energy storage to store and reuse regenerative braking energy.</a:t>
                      </a:r>
                      <a:endParaRPr lang="en-IN" sz="1600" dirty="0">
                        <a:effectLst/>
                        <a:latin typeface="Times New Roman" panose="02020603050405020304" pitchFamily="18" charset="0"/>
                        <a:ea typeface="Times New Roman" panose="02020603050405020304" pitchFamily="18" charset="0"/>
                      </a:endParaRPr>
                    </a:p>
                  </a:txBody>
                  <a:tcPr marL="0" marR="0" marT="0" marB="0"/>
                </a:tc>
                <a:tc>
                  <a:txBody>
                    <a:bodyPr/>
                    <a:lstStyle/>
                    <a:p>
                      <a:pPr>
                        <a:lnSpc>
                          <a:spcPct val="150000"/>
                        </a:lnSpc>
                      </a:pPr>
                      <a:r>
                        <a:rPr lang="en-IN" sz="1600" dirty="0">
                          <a:latin typeface="Times New Roman" panose="02020603050405020304" pitchFamily="18" charset="0"/>
                          <a:cs typeface="Times New Roman" panose="02020603050405020304" pitchFamily="18" charset="0"/>
                        </a:rPr>
                        <a:t>Improves energy efficiency and reduces grid power usage.</a:t>
                      </a:r>
                    </a:p>
                  </a:txBody>
                  <a:tcPr/>
                </a:tc>
                <a:tc>
                  <a:txBody>
                    <a:bodyPr/>
                    <a:lstStyle/>
                    <a:p>
                      <a:pPr marL="69215" algn="just">
                        <a:lnSpc>
                          <a:spcPct val="150000"/>
                        </a:lnSpc>
                      </a:pPr>
                      <a:r>
                        <a:rPr lang="en-IN" sz="1600" dirty="0">
                          <a:effectLst/>
                          <a:latin typeface="Times New Roman" panose="02020603050405020304" pitchFamily="18" charset="0"/>
                          <a:ea typeface="Times New Roman" panose="02020603050405020304" pitchFamily="18" charset="0"/>
                        </a:rPr>
                        <a:t>High installation cost and dependence on solar availability.</a:t>
                      </a:r>
                    </a:p>
                  </a:txBody>
                  <a:tcPr marL="0" marR="0" marT="0" marB="0"/>
                </a:tc>
                <a:extLst>
                  <a:ext uri="{0D108BD9-81ED-4DB2-BD59-A6C34878D82A}">
                    <a16:rowId xmlns:a16="http://schemas.microsoft.com/office/drawing/2014/main" val="1082132721"/>
                  </a:ext>
                </a:extLst>
              </a:tr>
              <a:tr h="2111093">
                <a:tc>
                  <a:txBody>
                    <a:bodyPr/>
                    <a:lstStyle/>
                    <a:p>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marL="67945" marR="90805" algn="l">
                        <a:lnSpc>
                          <a:spcPct val="150000"/>
                        </a:lnSpc>
                      </a:pPr>
                      <a:r>
                        <a:rPr lang="en-IN" sz="1600" dirty="0">
                          <a:effectLst/>
                          <a:latin typeface="Times New Roman" panose="02020603050405020304" pitchFamily="18" charset="0"/>
                          <a:ea typeface="Times New Roman" panose="02020603050405020304" pitchFamily="18" charset="0"/>
                        </a:rPr>
                        <a:t>P. Pankovits et al.</a:t>
                      </a:r>
                    </a:p>
                  </a:txBody>
                  <a:tcPr marL="114300" marR="114300" marT="0" marB="0"/>
                </a:tc>
                <a:tc>
                  <a:txBody>
                    <a:bodyPr/>
                    <a:lstStyle/>
                    <a:p>
                      <a:pPr marL="68580" algn="l">
                        <a:lnSpc>
                          <a:spcPct val="150000"/>
                        </a:lnSpc>
                      </a:pPr>
                      <a:r>
                        <a:rPr lang="en-US" sz="1600" dirty="0">
                          <a:effectLst/>
                          <a:latin typeface="Times New Roman" panose="02020603050405020304" pitchFamily="18" charset="0"/>
                          <a:ea typeface="Times New Roman" panose="02020603050405020304" pitchFamily="18" charset="0"/>
                        </a:rPr>
                        <a:t>“Design and Operation Optimization of a Hybrid Railway Power Substation”(2020)</a:t>
                      </a:r>
                      <a:endParaRPr lang="en-IN" sz="1600" dirty="0">
                        <a:effectLst/>
                        <a:latin typeface="Times New Roman" panose="02020603050405020304" pitchFamily="18" charset="0"/>
                        <a:ea typeface="Times New Roman" panose="02020603050405020304" pitchFamily="18" charset="0"/>
                      </a:endParaRPr>
                    </a:p>
                  </a:txBody>
                  <a:tcPr marL="0" marR="0" marT="0" marB="0"/>
                </a:tc>
                <a:tc>
                  <a:txBody>
                    <a:bodyPr/>
                    <a:lstStyle/>
                    <a:p>
                      <a:pPr marL="68580" marR="78105" algn="just">
                        <a:lnSpc>
                          <a:spcPct val="150000"/>
                        </a:lnSpc>
                        <a:spcAft>
                          <a:spcPts val="0"/>
                        </a:spcAft>
                      </a:pPr>
                      <a:r>
                        <a:rPr lang="en-IN" sz="1600" dirty="0">
                          <a:effectLst/>
                          <a:latin typeface="Times New Roman" panose="02020603050405020304" pitchFamily="18" charset="0"/>
                          <a:ea typeface="Times New Roman" panose="02020603050405020304" pitchFamily="18" charset="0"/>
                        </a:rPr>
                        <a:t>Work on  provides practical case studies and simulation result for hybrid substations.</a:t>
                      </a:r>
                    </a:p>
                  </a:txBody>
                  <a:tcPr marL="0" marR="0" marT="0" marB="0"/>
                </a:tc>
                <a:tc>
                  <a:txBody>
                    <a:bodyPr/>
                    <a:lstStyle/>
                    <a:p>
                      <a:pPr marL="67310" algn="just">
                        <a:lnSpc>
                          <a:spcPct val="150000"/>
                        </a:lnSpc>
                      </a:pPr>
                      <a:r>
                        <a:rPr lang="en-US" sz="1600" dirty="0">
                          <a:effectLst/>
                          <a:latin typeface="Times New Roman" panose="02020603050405020304" pitchFamily="18" charset="0"/>
                          <a:ea typeface="Times New Roman" panose="02020603050405020304" pitchFamily="18" charset="0"/>
                        </a:rPr>
                        <a:t>Provides practical case studies and simulation results for hybrid substations.</a:t>
                      </a:r>
                      <a:endParaRPr lang="en-IN" sz="1600" dirty="0">
                        <a:effectLst/>
                        <a:latin typeface="Times New Roman" panose="02020603050405020304" pitchFamily="18" charset="0"/>
                        <a:ea typeface="Times New Roman" panose="02020603050405020304" pitchFamily="18" charset="0"/>
                      </a:endParaRPr>
                    </a:p>
                  </a:txBody>
                  <a:tcPr marL="0" marR="0" marT="0" marB="0"/>
                </a:tc>
                <a:tc>
                  <a:txBody>
                    <a:bodyPr/>
                    <a:lstStyle/>
                    <a:p>
                      <a:pPr marL="69215" algn="just">
                        <a:lnSpc>
                          <a:spcPct val="150000"/>
                        </a:lnSpc>
                      </a:pPr>
                      <a:r>
                        <a:rPr lang="en-US" sz="1600" dirty="0">
                          <a:effectLst/>
                          <a:latin typeface="Times New Roman" panose="02020603050405020304" pitchFamily="18" charset="0"/>
                          <a:ea typeface="Times New Roman" panose="02020603050405020304" pitchFamily="18" charset="0"/>
                        </a:rPr>
                        <a:t>Does not deeply cover long-term maintenance or reliability issues.</a:t>
                      </a:r>
                      <a:endParaRPr lang="en-IN" sz="1600" dirty="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000857745"/>
                  </a:ext>
                </a:extLst>
              </a:tr>
            </a:tbl>
          </a:graphicData>
        </a:graphic>
      </p:graphicFrame>
    </p:spTree>
    <p:extLst>
      <p:ext uri="{BB962C8B-B14F-4D97-AF65-F5344CB8AC3E}">
        <p14:creationId xmlns:p14="http://schemas.microsoft.com/office/powerpoint/2010/main" val="985343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Content Placeholder 26">
            <a:extLst>
              <a:ext uri="{FF2B5EF4-FFF2-40B4-BE49-F238E27FC236}">
                <a16:creationId xmlns:a16="http://schemas.microsoft.com/office/drawing/2014/main" id="{1A3BA6C1-3E68-3AB8-654F-8B5C72840DDD}"/>
              </a:ext>
            </a:extLst>
          </p:cNvPr>
          <p:cNvGraphicFramePr>
            <a:graphicFrameLocks noGrp="1"/>
          </p:cNvGraphicFramePr>
          <p:nvPr>
            <p:ph idx="1"/>
            <p:extLst>
              <p:ext uri="{D42A27DB-BD31-4B8C-83A1-F6EECF244321}">
                <p14:modId xmlns:p14="http://schemas.microsoft.com/office/powerpoint/2010/main" val="1796041509"/>
              </p:ext>
            </p:extLst>
          </p:nvPr>
        </p:nvGraphicFramePr>
        <p:xfrm>
          <a:off x="0" y="0"/>
          <a:ext cx="9143999" cy="6858000"/>
        </p:xfrm>
        <a:graphic>
          <a:graphicData uri="http://schemas.openxmlformats.org/drawingml/2006/table">
            <a:tbl>
              <a:tblPr firstRow="1" bandRow="1">
                <a:tableStyleId>{5C22544A-7EE6-4342-B048-85BDC9FD1C3A}</a:tableStyleId>
              </a:tblPr>
              <a:tblGrid>
                <a:gridCol w="862574">
                  <a:extLst>
                    <a:ext uri="{9D8B030D-6E8A-4147-A177-3AD203B41FA5}">
                      <a16:colId xmlns:a16="http://schemas.microsoft.com/office/drawing/2014/main" val="2033404138"/>
                    </a:ext>
                  </a:extLst>
                </a:gridCol>
                <a:gridCol w="1334718">
                  <a:extLst>
                    <a:ext uri="{9D8B030D-6E8A-4147-A177-3AD203B41FA5}">
                      <a16:colId xmlns:a16="http://schemas.microsoft.com/office/drawing/2014/main" val="4213123316"/>
                    </a:ext>
                  </a:extLst>
                </a:gridCol>
                <a:gridCol w="2004437">
                  <a:extLst>
                    <a:ext uri="{9D8B030D-6E8A-4147-A177-3AD203B41FA5}">
                      <a16:colId xmlns:a16="http://schemas.microsoft.com/office/drawing/2014/main" val="3645880297"/>
                    </a:ext>
                  </a:extLst>
                </a:gridCol>
                <a:gridCol w="1681926">
                  <a:extLst>
                    <a:ext uri="{9D8B030D-6E8A-4147-A177-3AD203B41FA5}">
                      <a16:colId xmlns:a16="http://schemas.microsoft.com/office/drawing/2014/main" val="338159970"/>
                    </a:ext>
                  </a:extLst>
                </a:gridCol>
                <a:gridCol w="1436411">
                  <a:extLst>
                    <a:ext uri="{9D8B030D-6E8A-4147-A177-3AD203B41FA5}">
                      <a16:colId xmlns:a16="http://schemas.microsoft.com/office/drawing/2014/main" val="2989239625"/>
                    </a:ext>
                  </a:extLst>
                </a:gridCol>
                <a:gridCol w="1823933">
                  <a:extLst>
                    <a:ext uri="{9D8B030D-6E8A-4147-A177-3AD203B41FA5}">
                      <a16:colId xmlns:a16="http://schemas.microsoft.com/office/drawing/2014/main" val="763824727"/>
                    </a:ext>
                  </a:extLst>
                </a:gridCol>
              </a:tblGrid>
              <a:tr h="3383202">
                <a:tc>
                  <a:txBody>
                    <a:bodyPr/>
                    <a:lstStyle/>
                    <a:p>
                      <a:r>
                        <a:rPr lang="en-US" b="0" dirty="0">
                          <a:solidFill>
                            <a:schemeClr val="tx1"/>
                          </a:solidFill>
                          <a:latin typeface="Times New Roman" panose="02020603050405020304" pitchFamily="18" charset="0"/>
                          <a:cs typeface="Times New Roman" panose="02020603050405020304" pitchFamily="18" charset="0"/>
                        </a:rPr>
                        <a:t>3.</a:t>
                      </a:r>
                      <a:endParaRPr lang="en-IN"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pt-BR" b="0" dirty="0">
                          <a:solidFill>
                            <a:schemeClr val="tx1"/>
                          </a:solidFill>
                          <a:latin typeface="Times New Roman" panose="02020603050405020304" pitchFamily="18" charset="0"/>
                          <a:cs typeface="Times New Roman" panose="02020603050405020304" pitchFamily="18" charset="0"/>
                        </a:rPr>
                        <a:t>Aguado, J. A., Sánchez‑Racero</a:t>
                      </a:r>
                      <a:endParaRPr lang="en-IN" b="0"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endParaRPr>
                    </a:p>
                  </a:txBody>
                  <a:tcPr/>
                </a:tc>
                <a:tc>
                  <a:txBody>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en-US" b="0" dirty="0">
                          <a:solidFill>
                            <a:schemeClr val="tx1"/>
                          </a:solidFill>
                          <a:latin typeface="Times New Roman" panose="02020603050405020304" pitchFamily="18" charset="0"/>
                          <a:cs typeface="Times New Roman" panose="02020603050405020304" pitchFamily="18" charset="0"/>
                        </a:rPr>
                        <a:t>“Optimal Operation of Electric Railways With Renewable Energy and Electric Storage Systems”(2022)</a:t>
                      </a:r>
                      <a:endParaRPr lang="en-IN" b="0"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endParaRPr>
                    </a:p>
                  </a:txBody>
                  <a:tcPr/>
                </a:tc>
                <a:tc>
                  <a:txBody>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en-IN" b="0" dirty="0">
                          <a:solidFill>
                            <a:schemeClr val="tx1"/>
                          </a:solidFill>
                          <a:latin typeface="Times New Roman" panose="02020603050405020304" pitchFamily="18" charset="0"/>
                          <a:cs typeface="Times New Roman" panose="02020603050405020304" pitchFamily="18" charset="0"/>
                        </a:rPr>
                        <a:t>Work on Optimal energy management methods.</a:t>
                      </a:r>
                    </a:p>
                    <a:p>
                      <a:endParaRPr lang="en-IN" dirty="0">
                        <a:solidFill>
                          <a:schemeClr val="tx1"/>
                        </a:solidFill>
                      </a:endParaRPr>
                    </a:p>
                  </a:txBody>
                  <a:tcPr/>
                </a:tc>
                <a:tc>
                  <a:txBody>
                    <a:bodyPr/>
                    <a:lstStyle/>
                    <a:p>
                      <a:pPr>
                        <a:lnSpc>
                          <a:spcPct val="150000"/>
                        </a:lnSpc>
                      </a:pPr>
                      <a:r>
                        <a:rPr lang="en-IN" b="0" dirty="0">
                          <a:solidFill>
                            <a:schemeClr val="tx1"/>
                          </a:solidFill>
                          <a:latin typeface="Times New Roman" panose="02020603050405020304" pitchFamily="18" charset="0"/>
                          <a:cs typeface="Times New Roman" panose="02020603050405020304" pitchFamily="18" charset="0"/>
                        </a:rPr>
                        <a:t>Enhanced Energy Efficiency.</a:t>
                      </a:r>
                    </a:p>
                  </a:txBody>
                  <a:tcPr/>
                </a:tc>
                <a:tc>
                  <a:txBody>
                    <a:bodyPr/>
                    <a:lstStyle/>
                    <a:p>
                      <a:pPr>
                        <a:lnSpc>
                          <a:spcPct val="150000"/>
                        </a:lnSpc>
                      </a:pPr>
                      <a:r>
                        <a:rPr lang="en-IN" b="0" dirty="0">
                          <a:solidFill>
                            <a:schemeClr val="tx1"/>
                          </a:solidFill>
                          <a:latin typeface="Times New Roman" panose="02020603050405020304" pitchFamily="18" charset="0"/>
                          <a:cs typeface="Times New Roman" panose="02020603050405020304" pitchFamily="18" charset="0"/>
                        </a:rPr>
                        <a:t>Complex Implementation.</a:t>
                      </a:r>
                    </a:p>
                  </a:txBody>
                  <a:tcPr/>
                </a:tc>
                <a:extLst>
                  <a:ext uri="{0D108BD9-81ED-4DB2-BD59-A6C34878D82A}">
                    <a16:rowId xmlns:a16="http://schemas.microsoft.com/office/drawing/2014/main" val="1166002632"/>
                  </a:ext>
                </a:extLst>
              </a:tr>
              <a:tr h="3474798">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nl-NL" dirty="0">
                          <a:latin typeface="Times New Roman" panose="02020603050405020304" pitchFamily="18" charset="0"/>
                          <a:cs typeface="Times New Roman" panose="02020603050405020304" pitchFamily="18" charset="0"/>
                        </a:rPr>
                        <a:t>Hrvoje Novak &amp; Vinko Lesic, </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dirty="0">
                          <a:latin typeface="Times New Roman" panose="02020603050405020304" pitchFamily="18" charset="0"/>
                          <a:cs typeface="Times New Roman" panose="02020603050405020304" pitchFamily="18" charset="0"/>
                        </a:rPr>
                        <a:t>“Railway Transport System Energy Flow Optimization with Integrated Microgrid”(2024)</a:t>
                      </a:r>
                    </a:p>
                  </a:txBody>
                  <a:tcPr/>
                </a:tc>
                <a:tc>
                  <a:txBody>
                    <a:bodyPr/>
                    <a:lstStyle/>
                    <a:p>
                      <a:pPr>
                        <a:lnSpc>
                          <a:spcPct val="150000"/>
                        </a:lnSpc>
                      </a:pPr>
                      <a:r>
                        <a:rPr lang="en-US" dirty="0">
                          <a:latin typeface="Times New Roman" panose="02020603050405020304" pitchFamily="18" charset="0"/>
                          <a:cs typeface="Times New Roman" panose="02020603050405020304" pitchFamily="18" charset="0"/>
                        </a:rPr>
                        <a:t>Work on optimization of energy flows in a railway transport system. </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dirty="0">
                          <a:latin typeface="Times New Roman" panose="02020603050405020304" pitchFamily="18" charset="0"/>
                          <a:cs typeface="Times New Roman" panose="02020603050405020304" pitchFamily="18" charset="0"/>
                        </a:rPr>
                        <a:t>Energy Flow Integration.</a:t>
                      </a:r>
                    </a:p>
                  </a:txBody>
                  <a:tcPr/>
                </a:tc>
                <a:tc>
                  <a:txBody>
                    <a:bodyPr/>
                    <a:lstStyle/>
                    <a:p>
                      <a:pPr>
                        <a:lnSpc>
                          <a:spcPct val="150000"/>
                        </a:lnSpc>
                      </a:pPr>
                      <a:r>
                        <a:rPr lang="en-IN" dirty="0">
                          <a:latin typeface="Times New Roman" panose="02020603050405020304" pitchFamily="18" charset="0"/>
                          <a:cs typeface="Times New Roman" panose="02020603050405020304" pitchFamily="18" charset="0"/>
                        </a:rPr>
                        <a:t>Simplified Model Assumptions.</a:t>
                      </a:r>
                    </a:p>
                  </a:txBody>
                  <a:tcPr/>
                </a:tc>
                <a:extLst>
                  <a:ext uri="{0D108BD9-81ED-4DB2-BD59-A6C34878D82A}">
                    <a16:rowId xmlns:a16="http://schemas.microsoft.com/office/drawing/2014/main" val="316990247"/>
                  </a:ext>
                </a:extLst>
              </a:tr>
            </a:tbl>
          </a:graphicData>
        </a:graphic>
      </p:graphicFrame>
    </p:spTree>
    <p:extLst>
      <p:ext uri="{BB962C8B-B14F-4D97-AF65-F5344CB8AC3E}">
        <p14:creationId xmlns:p14="http://schemas.microsoft.com/office/powerpoint/2010/main" val="264745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948" y="129457"/>
            <a:ext cx="8229600" cy="1143000"/>
          </a:xfrm>
        </p:spPr>
        <p:txBody>
          <a:bodyPr/>
          <a:lstStyle/>
          <a:p>
            <a:r>
              <a:rPr lang="en-IN"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360948" y="1045945"/>
            <a:ext cx="8229600" cy="5364162"/>
          </a:xfrm>
        </p:spPr>
        <p:txBody>
          <a:bodyPr>
            <a:normAutofit fontScale="92500" lnSpcReduction="10000"/>
          </a:bodyPr>
          <a:lstStyle/>
          <a:p>
            <a:pPr algn="just">
              <a:lnSpc>
                <a:spcPct val="17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Low voltage in sections far from substations reduces railway capacity.</a:t>
            </a:r>
          </a:p>
          <a:p>
            <a:pPr algn="just">
              <a:lnSpc>
                <a:spcPct val="17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Autonomous Hybrid Power Plants (AHPP) proposed as additional power sources.</a:t>
            </a:r>
          </a:p>
          <a:p>
            <a:pPr algn="just">
              <a:lnSpc>
                <a:spcPct val="17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AHPP structure and interaction with the railway network are described.</a:t>
            </a:r>
          </a:p>
          <a:p>
            <a:pPr algn="just">
              <a:lnSpc>
                <a:spcPct val="17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Implementation improves voltage stability and supports efficient railway operations.</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5872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LIMITATIONS</a:t>
            </a:r>
          </a:p>
        </p:txBody>
      </p:sp>
      <p:sp>
        <p:nvSpPr>
          <p:cNvPr id="3" name="Content Placeholder 2"/>
          <p:cNvSpPr>
            <a:spLocks noGrp="1"/>
          </p:cNvSpPr>
          <p:nvPr>
            <p:ph idx="1"/>
          </p:nvPr>
        </p:nvSpPr>
        <p:spPr/>
        <p:txBody>
          <a:bodyPr>
            <a:normAutofit fontScale="92500" lnSpcReduction="10000"/>
          </a:bodyPr>
          <a:lstStyle/>
          <a:p>
            <a:pPr>
              <a:lnSpc>
                <a:spcPct val="15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Power generation depends on weather conditions.</a:t>
            </a:r>
          </a:p>
          <a:p>
            <a:pPr>
              <a:lnSpc>
                <a:spcPct val="15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 Prototype model may not represent the complete railway system.</a:t>
            </a:r>
          </a:p>
          <a:p>
            <a:pPr>
              <a:lnSpc>
                <a:spcPct val="15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Results may vary in real-time railway applications</a:t>
            </a:r>
            <a:r>
              <a:rPr lang="en-US" dirty="0"/>
              <a:t>.</a:t>
            </a:r>
            <a:endParaRPr dirty="0"/>
          </a:p>
        </p:txBody>
      </p:sp>
    </p:spTree>
    <p:extLst>
      <p:ext uri="{BB962C8B-B14F-4D97-AF65-F5344CB8AC3E}">
        <p14:creationId xmlns:p14="http://schemas.microsoft.com/office/powerpoint/2010/main" val="199944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DEFINITION</a:t>
            </a:r>
          </a:p>
        </p:txBody>
      </p:sp>
      <p:sp>
        <p:nvSpPr>
          <p:cNvPr id="3" name="Content Placeholder 2"/>
          <p:cNvSpPr>
            <a:spLocks noGrp="1"/>
          </p:cNvSpPr>
          <p:nvPr>
            <p:ph idx="1"/>
          </p:nvPr>
        </p:nvSpPr>
        <p:spPr/>
        <p:txBody>
          <a:bodyPr>
            <a:normAutofit fontScale="92500" lnSpcReduction="10000"/>
          </a:bodyPr>
          <a:lstStyle/>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Railway electrification systems require a stable and continuous power supply for efficient train operations. However, in long railway networks, voltage drops and power losses often occur due to the large distance between traction substations and moving trains. These issues can affect train acceleration, reduce operational efficiency, and limit the overall carrying capacity of the railway system.</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8712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Energy Reliability</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Autonomous Operation</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Power Optimization</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Monitoring and Control</a:t>
            </a:r>
          </a:p>
          <a:p>
            <a:pPr algn="just">
              <a:buFont typeface="Arial" panose="020B0604020202020204" pitchFamily="34" charset="0"/>
              <a:buChar char="•"/>
            </a:pP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1675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532" y="200720"/>
            <a:ext cx="8229600" cy="1143000"/>
          </a:xfrm>
        </p:spPr>
        <p:txBody>
          <a:bodyPr/>
          <a:lstStyle/>
          <a:p>
            <a:r>
              <a:rPr dirty="0">
                <a:latin typeface="Times New Roman" panose="02020603050405020304" pitchFamily="18" charset="0"/>
                <a:cs typeface="Times New Roman" panose="02020603050405020304" pitchFamily="18" charset="0"/>
              </a:rPr>
              <a:t>Block Dia</a:t>
            </a:r>
            <a:r>
              <a:rPr lang="en-IN" dirty="0">
                <a:latin typeface="Times New Roman" panose="02020603050405020304" pitchFamily="18" charset="0"/>
                <a:cs typeface="Times New Roman" panose="02020603050405020304" pitchFamily="18" charset="0"/>
              </a:rPr>
              <a:t>ram </a:t>
            </a:r>
            <a:endParaRPr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69C4AFA-1FDD-B18B-E5CD-6561374B686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349829" y="943428"/>
            <a:ext cx="6845213" cy="4093029"/>
          </a:xfrm>
          <a:prstGeom prst="rect">
            <a:avLst/>
          </a:prstGeom>
          <a:noFill/>
          <a:ln>
            <a:noFill/>
          </a:ln>
        </p:spPr>
      </p:pic>
    </p:spTree>
    <p:extLst>
      <p:ext uri="{BB962C8B-B14F-4D97-AF65-F5344CB8AC3E}">
        <p14:creationId xmlns:p14="http://schemas.microsoft.com/office/powerpoint/2010/main" val="215234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40718-4310-4479-928C-D53401A3490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APPLICATIONS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DA6DDB-6477-4346-9FED-B15DAAF37A0F}"/>
              </a:ext>
            </a:extLst>
          </p:cNvPr>
          <p:cNvSpPr>
            <a:spLocks noGrp="1"/>
          </p:cNvSpPr>
          <p:nvPr>
            <p:ph idx="1"/>
          </p:nvPr>
        </p:nvSpPr>
        <p:spPr>
          <a:xfrm>
            <a:off x="457200" y="1417638"/>
            <a:ext cx="8229600" cy="4525963"/>
          </a:xfrm>
        </p:spPr>
        <p:txBody>
          <a:bodyPr>
            <a:normAutofit/>
          </a:bodyPr>
          <a:lstStyle/>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Assess hybrid power impact on railway capacity</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Optimize train schedules and energy use</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 operational reliability</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Evaluate cost and efficiency gains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9686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28E1D-2DC4-4ADA-87F1-629466CF9A4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EXPECTED RESULT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691219-8F7F-4007-AF43-5F3943A3FA65}"/>
              </a:ext>
            </a:extLst>
          </p:cNvPr>
          <p:cNvSpPr>
            <a:spLocks noGrp="1"/>
          </p:cNvSpPr>
          <p:nvPr>
            <p:ph idx="1"/>
          </p:nvPr>
        </p:nvSpPr>
        <p:spPr/>
        <p:txBody>
          <a:bodyPr>
            <a:normAutofit fontScale="85000" lnSpcReduction="10000"/>
          </a:bodyPr>
          <a:lstStyle/>
          <a:p>
            <a:pPr>
              <a:lnSpc>
                <a:spcPct val="16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Reliable Power Supply: Ensure continuous power for signaling, lighting, and train systems, reducing interruptions.</a:t>
            </a:r>
          </a:p>
          <a:p>
            <a:pPr>
              <a:lnSpc>
                <a:spcPct val="16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Improved Railway Capacity: Maintain stable energy to support smooth operations and higher traffic efficiency.</a:t>
            </a:r>
          </a:p>
          <a:p>
            <a:pPr>
              <a:lnSpc>
                <a:spcPct val="16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Energy Efficiency: Optimize generation and distribution with hybrid sources, minimizing losses.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684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55779-66BA-49F8-8FD4-892A63BF71B8}"/>
              </a:ext>
            </a:extLst>
          </p:cNvPr>
          <p:cNvSpPr>
            <a:spLocks noGrp="1"/>
          </p:cNvSpPr>
          <p:nvPr>
            <p:ph type="title"/>
          </p:nvPr>
        </p:nvSpPr>
        <p:spPr>
          <a:xfrm>
            <a:off x="235819" y="0"/>
            <a:ext cx="8229600" cy="1143000"/>
          </a:xfrm>
        </p:spPr>
        <p:txBody>
          <a:bodyPr/>
          <a:lstStyle/>
          <a:p>
            <a:pPr>
              <a:lnSpc>
                <a:spcPct val="150000"/>
              </a:lnSpc>
            </a:pPr>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6AF7B4-4F55-4914-B820-F3F7D31CD1EA}"/>
              </a:ext>
            </a:extLst>
          </p:cNvPr>
          <p:cNvSpPr>
            <a:spLocks noGrp="1"/>
          </p:cNvSpPr>
          <p:nvPr>
            <p:ph idx="1"/>
          </p:nvPr>
        </p:nvSpPr>
        <p:spPr>
          <a:xfrm>
            <a:off x="457200" y="1349943"/>
            <a:ext cx="8229600" cy="5304430"/>
          </a:xfrm>
        </p:spPr>
        <p:txBody>
          <a:bodyPr>
            <a:normAutofit fontScale="92500" lnSpcReduction="20000"/>
          </a:bodyPr>
          <a:lstStyle/>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implementation of an autonomous hybrid power system for railways ensures a reliable and continuous power supply, optimizes energy usage, and supports increased operational efficiency. By intelligently managing solar, wind, and stored energy, the system enhances railway capacity, reduces operational costs, and contributes to environmental sustainability through the integration of renewable energy sources. Overall, it provides a robust, efficient, and eco-friendly solution for modern railway operations.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1465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42A5E-DEE8-44FD-97B7-24AD5025CEC6}"/>
              </a:ext>
            </a:extLst>
          </p:cNvPr>
          <p:cNvSpPr>
            <a:spLocks noGrp="1"/>
          </p:cNvSpPr>
          <p:nvPr>
            <p:ph type="title"/>
          </p:nvPr>
        </p:nvSpPr>
        <p:spPr>
          <a:xfrm>
            <a:off x="178067" y="-55345"/>
            <a:ext cx="8229600" cy="1143000"/>
          </a:xfrm>
        </p:spPr>
        <p:txBody>
          <a:bodyPr/>
          <a:lstStyle/>
          <a:p>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10CC07-3562-4988-8302-33F133326207}"/>
              </a:ext>
            </a:extLst>
          </p:cNvPr>
          <p:cNvSpPr>
            <a:spLocks noGrp="1"/>
          </p:cNvSpPr>
          <p:nvPr>
            <p:ph idx="1"/>
          </p:nvPr>
        </p:nvSpPr>
        <p:spPr>
          <a:xfrm>
            <a:off x="91439" y="541658"/>
            <a:ext cx="8768251" cy="6227976"/>
          </a:xfrm>
        </p:spPr>
        <p:txBody>
          <a:bodyPr>
            <a:normAutofit fontScale="92500" lnSpcReduction="20000"/>
          </a:bodyPr>
          <a:lstStyle/>
          <a:p>
            <a:pPr marL="0" indent="0" algn="just">
              <a:spcBef>
                <a:spcPts val="105"/>
              </a:spcBef>
              <a:spcAft>
                <a:spcPts val="0"/>
              </a:spcAft>
              <a:buNone/>
            </a:pPr>
            <a:r>
              <a:rPr lang="en-US" sz="1800" b="1" kern="0" spc="-10" dirty="0">
                <a:effectLst/>
                <a:latin typeface="Times New Roman" panose="02020603050405020304" pitchFamily="18" charset="0"/>
                <a:ea typeface="Times New Roman" panose="02020603050405020304" pitchFamily="18" charset="0"/>
              </a:rPr>
              <a:t> </a:t>
            </a:r>
            <a:endParaRPr lang="en-IN" sz="1800" b="1" kern="0" dirty="0">
              <a:effectLst/>
              <a:latin typeface="Times New Roman" panose="02020603050405020304" pitchFamily="18" charset="0"/>
              <a:ea typeface="Times New Roman" panose="02020603050405020304" pitchFamily="18" charset="0"/>
            </a:endParaRPr>
          </a:p>
          <a:p>
            <a:pPr marL="0" indent="0" algn="just">
              <a:lnSpc>
                <a:spcPct val="170000"/>
              </a:lnSpc>
              <a:spcAft>
                <a:spcPts val="1705"/>
              </a:spcAft>
              <a:buNone/>
            </a:pPr>
            <a:r>
              <a:rPr lang="en-IN" sz="2100" dirty="0">
                <a:latin typeface="Times New Roman" panose="02020603050405020304" pitchFamily="18" charset="0"/>
                <a:ea typeface="Times New Roman" panose="02020603050405020304" pitchFamily="18" charset="0"/>
                <a:cs typeface="Times New Roman" panose="02020603050405020304" pitchFamily="18" charset="0"/>
              </a:rPr>
              <a:t>[1]. Sergey V. Mitrofanov “Analysis of the impact of autonomous hybrid power plant on railway capacitance”(2021) Vol. 14, Issue 18, 5946</a:t>
            </a:r>
          </a:p>
          <a:p>
            <a:pPr marL="0" indent="0" algn="just">
              <a:lnSpc>
                <a:spcPct val="160000"/>
              </a:lnSpc>
              <a:spcAft>
                <a:spcPts val="1705"/>
              </a:spcAft>
              <a:buNone/>
            </a:pPr>
            <a:r>
              <a:rPr lang="en-US" sz="2100" dirty="0">
                <a:latin typeface="Times New Roman" panose="02020603050405020304" pitchFamily="18" charset="0"/>
                <a:ea typeface="Times New Roman" panose="02020603050405020304" pitchFamily="18" charset="0"/>
                <a:cs typeface="Times New Roman" panose="02020603050405020304" pitchFamily="18" charset="0"/>
              </a:rPr>
              <a:t>[2]. Pankovits, P., “Design and operation optimization of a hybrid railway power substation”. (2020) 15th European Conference on Power Electronics and Applications (EPE).</a:t>
            </a:r>
          </a:p>
          <a:p>
            <a:pPr marL="0" indent="0" algn="just">
              <a:lnSpc>
                <a:spcPct val="160000"/>
              </a:lnSpc>
              <a:spcAft>
                <a:spcPts val="1705"/>
              </a:spcAft>
              <a:buNone/>
            </a:pPr>
            <a:r>
              <a:rPr lang="en-IN" sz="2100" dirty="0">
                <a:latin typeface="Times New Roman" panose="02020603050405020304" pitchFamily="18" charset="0"/>
                <a:ea typeface="Times New Roman" panose="02020603050405020304" pitchFamily="18" charset="0"/>
                <a:cs typeface="Times New Roman" panose="02020603050405020304" pitchFamily="18" charset="0"/>
              </a:rPr>
              <a:t>[3]. Aguado, J. A., Sanchez Racero,“Optimal Operation of Electric Railways With           Renewable Energy and lectric Storage Systems”(2022) IEEE Transactions on Smart Grid, 9(2), 993–1001</a:t>
            </a:r>
          </a:p>
          <a:p>
            <a:pPr marL="0" indent="0" algn="just">
              <a:lnSpc>
                <a:spcPct val="160000"/>
              </a:lnSpc>
              <a:spcAft>
                <a:spcPts val="1705"/>
              </a:spcAft>
              <a:buNone/>
            </a:pPr>
            <a:r>
              <a:rPr lang="en-IN" sz="2100" dirty="0">
                <a:latin typeface="Times New Roman" panose="02020603050405020304" pitchFamily="18" charset="0"/>
                <a:ea typeface="Times New Roman" panose="02020603050405020304" pitchFamily="18" charset="0"/>
                <a:cs typeface="Times New Roman" panose="02020603050405020304" pitchFamily="18" charset="0"/>
              </a:rPr>
              <a:t>[4]. Hrvoje Novak, Mario Vašak, Vinko Lešić. “Railway transport system energy flow optimization with integrated microgrid” (2023) Trogir, Croatia, 4-7th October 2015At: Trogir, Croatia.</a:t>
            </a:r>
          </a:p>
          <a:p>
            <a:pPr marL="0" indent="0" algn="just">
              <a:lnSpc>
                <a:spcPct val="160000"/>
              </a:lnSpc>
              <a:spcAft>
                <a:spcPts val="1705"/>
              </a:spcAft>
              <a:buNone/>
            </a:pPr>
            <a:endParaRPr lang="en-IN" sz="2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60000"/>
              </a:lnSpc>
              <a:spcAft>
                <a:spcPts val="1705"/>
              </a:spcAft>
              <a:buNone/>
            </a:pPr>
            <a:endParaRPr lang="en-IN" sz="2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60000"/>
              </a:lnSpc>
              <a:spcAft>
                <a:spcPts val="1705"/>
              </a:spcAft>
              <a:buNone/>
            </a:pPr>
            <a:endParaRPr lang="en-IN" sz="2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60000"/>
              </a:lnSpc>
              <a:spcAft>
                <a:spcPts val="1705"/>
              </a:spcAft>
              <a:buNone/>
            </a:pPr>
            <a:endParaRPr lang="en-IN" sz="2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60000"/>
              </a:lnSpc>
              <a:spcAft>
                <a:spcPts val="1705"/>
              </a:spcAft>
              <a:buNone/>
            </a:pPr>
            <a:endParaRPr lang="en-IN" sz="2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60000"/>
              </a:lnSpc>
              <a:spcAft>
                <a:spcPts val="1705"/>
              </a:spcAft>
              <a:buNone/>
            </a:pPr>
            <a:endParaRPr lang="en-US" sz="2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60000"/>
              </a:lnSpc>
              <a:spcAft>
                <a:spcPts val="1705"/>
              </a:spcAft>
              <a:buNone/>
            </a:pPr>
            <a:endParaRPr lang="en-US" sz="2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60000"/>
              </a:lnSpc>
              <a:spcAft>
                <a:spcPts val="1705"/>
              </a:spcAft>
              <a:buNone/>
            </a:pPr>
            <a:endParaRPr lang="en-US" sz="2100" dirty="0">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23779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742849-CDFA-487A-8B77-26D8A47A92C8}"/>
              </a:ext>
            </a:extLst>
          </p:cNvPr>
          <p:cNvSpPr txBox="1"/>
          <p:nvPr/>
        </p:nvSpPr>
        <p:spPr>
          <a:xfrm>
            <a:off x="2370082" y="2095767"/>
            <a:ext cx="4572000" cy="1107996"/>
          </a:xfrm>
          <a:prstGeom prst="rect">
            <a:avLst/>
          </a:prstGeom>
          <a:noFill/>
        </p:spPr>
        <p:txBody>
          <a:bodyPr wrap="square">
            <a:spAutoFit/>
          </a:bodyPr>
          <a:lstStyle/>
          <a:p>
            <a:r>
              <a:rPr lang="en-US" sz="6600" dirty="0"/>
              <a:t>THANK YOU</a:t>
            </a:r>
            <a:endParaRPr lang="en-IN" sz="6600" dirty="0"/>
          </a:p>
        </p:txBody>
      </p:sp>
    </p:spTree>
    <p:extLst>
      <p:ext uri="{BB962C8B-B14F-4D97-AF65-F5344CB8AC3E}">
        <p14:creationId xmlns:p14="http://schemas.microsoft.com/office/powerpoint/2010/main" val="505128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TotalTime>
  <Words>903</Words>
  <Application>Microsoft Office PowerPoint</Application>
  <PresentationFormat>On-screen Show (4:3)</PresentationFormat>
  <Paragraphs>121</Paragraphs>
  <Slides>16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Office Theme</vt:lpstr>
      <vt:lpstr>PowerPoint Presentation</vt:lpstr>
      <vt:lpstr>Contents</vt:lpstr>
      <vt:lpstr>ABSTRACT</vt:lpstr>
      <vt:lpstr>INTRODUCTION</vt:lpstr>
      <vt:lpstr>Literature Survey</vt:lpstr>
      <vt:lpstr>PowerPoint Presentation</vt:lpstr>
      <vt:lpstr>EXISTING SYSTEM</vt:lpstr>
      <vt:lpstr>LIMITATIONS</vt:lpstr>
      <vt:lpstr>PROBLEM DEFINITION</vt:lpstr>
      <vt:lpstr>OBJECTIVES</vt:lpstr>
      <vt:lpstr>Block Diaram </vt:lpstr>
      <vt:lpstr>APPLICATIONS</vt:lpstr>
      <vt:lpstr>EXPECTED RESULT</vt:lpstr>
      <vt:lpstr>CONCLUSION</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Time Energy Management in Smart Homes</dc:title>
  <dc:subject/>
  <dc:creator>kkava</dc:creator>
  <cp:keywords/>
  <dc:description>generated using python-pptx</dc:description>
  <cp:lastModifiedBy>mohamed suhail</cp:lastModifiedBy>
  <cp:revision>50</cp:revision>
  <dcterms:created xsi:type="dcterms:W3CDTF">2013-01-27T09:14:16Z</dcterms:created>
  <dcterms:modified xsi:type="dcterms:W3CDTF">2026-03-08T04:30:55Z</dcterms:modified>
  <cp:category/>
</cp:coreProperties>
</file>